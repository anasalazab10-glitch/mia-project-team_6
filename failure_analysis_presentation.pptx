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Financial Reasoning Pipeline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Failure Analysis &amp; Architectural Resolutions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</a:defRPr>
            </a:pPr>
            <a:r>
              <a:t>Root-cause diagnostics and generalized solutions across Retrieval, Table Parsing, and Arithmetic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Three Core Pipeline Failure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Cross-Company Pollution</a:t>
            </a:r>
          </a:p>
          <a:p>
            <a:pPr>
              <a:spcBef>
                <a:spcPts val="400"/>
              </a:spcBef>
              <a:defRPr sz="1200">
                <a:solidFill>
                  <a:srgbClr val="2563EB"/>
                </a:solidFill>
              </a:defRPr>
            </a:pPr>
            <a:r>
              <a:t>Component: resolver.py</a:t>
            </a:r>
          </a:p>
          <a:p>
            <a:pPr>
              <a:spcBef>
                <a:spcPts val="1600"/>
              </a:spcBef>
              <a:defRPr sz="1100" b="1">
                <a:solidFill>
                  <a:srgbClr val="EF4444"/>
                </a:solidFill>
              </a:defRPr>
            </a:pPr>
            <a:r>
              <a:t>PROBLEM: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Global vector searches pulled chunks across 60+ companies simultaneously, contaminating multi-company comparisons.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</a:defRPr>
            </a:pPr>
            <a:r>
              <a:t>RESOLUTION: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Dynamic entity resolution mapping corporate entities strictly to their specific 10-K document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Table Serialization</a:t>
            </a:r>
          </a:p>
          <a:p>
            <a:pPr>
              <a:spcBef>
                <a:spcPts val="400"/>
              </a:spcBef>
              <a:defRPr sz="1200">
                <a:solidFill>
                  <a:srgbClr val="2563EB"/>
                </a:solidFill>
              </a:defRPr>
            </a:pPr>
            <a:r>
              <a:t>Component: tools.py</a:t>
            </a:r>
          </a:p>
          <a:p>
            <a:pPr>
              <a:spcBef>
                <a:spcPts val="1600"/>
              </a:spcBef>
              <a:defRPr sz="1100" b="1">
                <a:solidFill>
                  <a:srgbClr val="EF4444"/>
                </a:solidFill>
              </a:defRPr>
            </a:pPr>
            <a:r>
              <a:t>PROBLEM: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Tables retrieved as raw Python list syntax (headers=[...] rows=[[...]]) caused LLMs to misalign years and columns.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</a:defRPr>
            </a:pPr>
            <a:r>
              <a:t>RESOLUTION: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Automatic parsing into clean GitHub-Flavored Markdown tables with visually aligned columns.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800" b="1">
                <a:solidFill>
                  <a:srgbClr val="F8FAFC"/>
                </a:solidFill>
              </a:defRPr>
            </a:pPr>
            <a:r>
              <a:t>Accounting &amp; Math</a:t>
            </a:r>
          </a:p>
          <a:p>
            <a:pPr>
              <a:spcBef>
                <a:spcPts val="400"/>
              </a:spcBef>
              <a:defRPr sz="1200">
                <a:solidFill>
                  <a:srgbClr val="2563EB"/>
                </a:solidFill>
              </a:defRPr>
            </a:pPr>
            <a:r>
              <a:t>Component: reasoner.py</a:t>
            </a:r>
          </a:p>
          <a:p>
            <a:pPr>
              <a:spcBef>
                <a:spcPts val="1600"/>
              </a:spcBef>
              <a:defRPr sz="1100" b="1">
                <a:solidFill>
                  <a:srgbClr val="EF4444"/>
                </a:solidFill>
              </a:defRPr>
            </a:pPr>
            <a:r>
              <a:t>PROBLEM: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Financial parentheses '(3,046)' or losses were read as positive numbers, and formulas were dropped.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</a:defRPr>
            </a:pPr>
            <a:r>
              <a:t>RESOLUTION: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Accounting sign rules, automated formula synthesis, and strict AST calculator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FAILURE MODE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Accounting Parentheses &amp; Formula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BENCHMARK EXAMPLE</a:t>
            </a:r>
          </a:p>
          <a:p>
            <a:pPr>
              <a:spcBef>
                <a:spcPts val="800"/>
              </a:spcBef>
              <a:defRPr sz="1200" b="1">
                <a:solidFill>
                  <a:srgbClr val="94A3B8"/>
                </a:solidFill>
              </a:defRPr>
            </a:pPr>
            <a:r>
              <a:t>Question: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"What was Cogeco Inc.'s average Net additions (losses) for video service customers?"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</a:defRPr>
            </a:pPr>
            <a:r>
              <a:t>Ground Truth: 1,124</a:t>
            </a:r>
          </a:p>
          <a:p>
            <a:pPr>
              <a:spcBef>
                <a:spcPts val="400"/>
              </a:spcBef>
              <a:defRPr sz="1400" b="1">
                <a:solidFill>
                  <a:srgbClr val="EF4444"/>
                </a:solidFill>
              </a:defRPr>
            </a:pPr>
            <a:r>
              <a:t>Old Pipeline Output: 429.0  ❌</a:t>
            </a:r>
          </a:p>
          <a:p>
            <a:pPr>
              <a:spcBef>
                <a:spcPts val="1400"/>
              </a:spcBef>
              <a:defRPr sz="1200" b="1">
                <a:solidFill>
                  <a:srgbClr val="94A3B8"/>
                </a:solidFill>
              </a:defRPr>
            </a:pPr>
            <a:r>
              <a:t>Raw Evidence Text: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2019 additions: 5,294</a:t>
            </a:r>
            <a:br/>
            <a:r>
              <a:t>• 2018 net losses: 3,046 (reported as loss / negative)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Correct Formula: (5,294 + -3,046) / 2 = 1,124.0  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ROOT CAUSE &amp; RESOLUTION</a:t>
            </a:r>
          </a:p>
          <a:p>
            <a:pPr>
              <a:spcBef>
                <a:spcPts val="800"/>
              </a:spcBef>
              <a:defRPr sz="1300" b="1">
                <a:solidFill>
                  <a:srgbClr val="EF4444"/>
                </a:solidFill>
              </a:defRPr>
            </a:pPr>
            <a:r>
              <a:t>Root Cause: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Financial statements represent negative values via 'losses' or parentheses '(3,046)'. The LLM either misread it as positive or omitted the formula string during generation.</a:t>
            </a:r>
          </a:p>
          <a:p>
            <a:pPr>
              <a:spcBef>
                <a:spcPts val="1400"/>
              </a:spcBef>
              <a:defRPr sz="1300" b="1">
                <a:solidFill>
                  <a:srgbClr val="10B981"/>
                </a:solidFill>
              </a:defRPr>
            </a:pPr>
            <a:r>
              <a:t>How reasoner.py Resolved It: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1. Accounting Negative Rules: Prompt explicitly enforces converting '(X)' or 'losses' into '-X'.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2. Deterministic Formula Synthesizer: If numbers are extracted without a formula string, automatically synthesizes '(val1 + val2) / 2'.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3. Safe AST Calculator Tool: Arithmetic is strictly executed by python's safe AST evaluator, never hallucinated.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FAILURE MODE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Cross-Company Search Pollution &amp; resolver.py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THE PROBLEM: GLOBAL SEARCH POLLUTION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Comparing Companies Without Document Scopes: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When answering comparative questions (e.g. comparing interest costs or sales between Sykes Enterprises and Jabil Inc.):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 global vector search over all 60+ filings returned a blended mixture of random corporate disclosures.</a:t>
            </a:r>
            <a:br/>
            <a:r>
              <a:t>• Chunks from Plexus, KEMET, and Cisco polluted the prompt context.</a:t>
            </a:r>
            <a:br/>
            <a:r>
              <a:t>• Downstream reasoner confused which financial metric belonged to which company.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THE RESOLUTION: RESOLVER.PY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Targeted Document Isolation &amp; Dynamic Discovery: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• Entity Mapping: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Maps company names &amp; aliases to exact Qdrant document IDs:</a:t>
            </a:r>
            <a:br/>
            <a:r>
              <a:t>  • Sykes Enterprises → c39f193...</a:t>
            </a:r>
            <a:br/>
            <a:r>
              <a:t>  • Jabil Inc. → 84a6214...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• Scoped Subqueries: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Each subquery is strictly constrained to its target document ID, completely eliminating cross-company noise.</a:t>
            </a:r>
          </a:p>
          <a:p>
            <a:pPr>
              <a:spcBef>
                <a:spcPts val="800"/>
              </a:spcBef>
              <a:defRPr sz="1300" b="1">
                <a:solidFill>
                  <a:srgbClr val="2563EB"/>
                </a:solidFill>
              </a:defRPr>
            </a:pPr>
            <a:r>
              <a:t>• Unsupervised Discovery: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If an unseen company is ingested, resolver.py performs a fast discovery lookup in Qdrant and caches the document ID in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FAILURE MODE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Raw Table Serialization &amp; Column Misalignment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RAW PYTHON STRING TABLES (BEFORE)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Raw Qdrant Chunk Content:</a:t>
            </a:r>
          </a:p>
          <a:p>
            <a:pPr>
              <a:spcBef>
                <a:spcPts val="600"/>
              </a:spcBef>
              <a:defRPr sz="1200">
                <a:solidFill>
                  <a:srgbClr val="FDBA74"/>
                </a:solidFill>
              </a:defRPr>
            </a:pPr>
            <a:r>
              <a:t>headers=['Metric', '2019', '2018']</a:t>
            </a:r>
            <a:br/>
            <a:r>
              <a:t>rows=[['Video Customers', '5,294', '(3,046)'], ['Internet', '7,431', '2,797']]</a:t>
            </a:r>
          </a:p>
          <a:p>
            <a:pPr>
              <a:spcBef>
                <a:spcPts val="1400"/>
              </a:spcBef>
              <a:defRPr sz="1300" b="1">
                <a:solidFill>
                  <a:srgbClr val="94A3B8"/>
                </a:solidFill>
              </a:defRPr>
            </a:pPr>
            <a:r>
              <a:t>Why LLMs Failed on This: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Models count brackets and commas poorly in dense code strings.</a:t>
            </a:r>
            <a:br/>
            <a:r>
              <a:t>• Column headers and row cells become detached.</a:t>
            </a:r>
            <a:br/>
            <a:r>
              <a:t>• LLMs regularly swapped adjacent years (e.g. using 2018 instead of 2019).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MARKDOWN GRID TABLES (AFTER)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Formatted Output Passed to LLM:</a:t>
            </a:r>
          </a:p>
          <a:p>
            <a:pPr>
              <a:spcBef>
                <a:spcPts val="600"/>
              </a:spcBef>
              <a:defRPr sz="1200">
                <a:solidFill>
                  <a:srgbClr val="93C5FD"/>
                </a:solidFill>
              </a:defRPr>
            </a:pPr>
            <a:r>
              <a:t>| Metric          | 2019  | 2018    |</a:t>
            </a:r>
            <a:br/>
            <a:r>
              <a:t>| --------------- | ----- | ------- |</a:t>
            </a:r>
            <a:br/>
            <a:r>
              <a:t>| Video Customers | 5,294 | (3,046) |</a:t>
            </a:r>
            <a:br/>
            <a:r>
              <a:t>| Internet        | 7,431 | 2,797   |</a:t>
            </a:r>
          </a:p>
          <a:p>
            <a:pPr>
              <a:spcBef>
                <a:spcPts val="1400"/>
              </a:spcBef>
              <a:defRPr sz="1300" b="1">
                <a:solidFill>
                  <a:srgbClr val="94A3B8"/>
                </a:solidFill>
              </a:defRPr>
            </a:pPr>
            <a:r>
              <a:t>Key Benefits: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Unambiguous vertical column alignment.</a:t>
            </a:r>
            <a:br/>
            <a:r>
              <a:t>• Native compatibility with LLM attention mechanisms.</a:t>
            </a:r>
            <a:br/>
            <a:r>
              <a:t>• Eliminates year/column confusion across complex financial 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Architecture Transformation: Before vs. After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926080"/>
                <a:gridCol w="2926080"/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Before (Fragile)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Solution Applied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After (Generalized)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Multi-Company Search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CA5A5"/>
                          </a:solidFill>
                        </a:defRPr>
                      </a:pPr>
                      <a:r>
                        <a:t>Global vector search; mixed unrelated company chunks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resolver.py entity mapping &amp; document scoping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EE7B7"/>
                          </a:solidFill>
                        </a:defRPr>
                      </a:pPr>
                      <a:r>
                        <a:t>100% clean, isolated filing retrieval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Table Structure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CA5A5"/>
                          </a:solidFill>
                        </a:defRPr>
                      </a:pPr>
                      <a:r>
                        <a:t>Raw Python lists &amp; unparsed bracket syntax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Automatic Markdown grid parser in tools.py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EE7B7"/>
                          </a:solidFill>
                        </a:defRPr>
                      </a:pPr>
                      <a:r>
                        <a:t>Visually aligned columns; zero swapped years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Accounting Conventions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CA5A5"/>
                          </a:solidFill>
                        </a:defRPr>
                      </a:pPr>
                      <a:r>
                        <a:t>Losses &amp; parentheses '(X)' read as positive numbers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Explicit accounting rule in reasoner prompt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EE7B7"/>
                          </a:solidFill>
                        </a:defRPr>
                      </a:pPr>
                      <a:r>
                        <a:t>Negative numbers preserved natively (-X)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Calculation &amp; Math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CA5A5"/>
                          </a:solidFill>
                        </a:defRPr>
                      </a:pPr>
                      <a:r>
                        <a:t>LLM formula dropped or math hallucinated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Auto formula synthesizer + safe AST calculator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EE7B7"/>
                          </a:solidFill>
                        </a:defRPr>
                      </a:pPr>
                      <a:r>
                        <a:t>Exact deterministic evaluation through tools.calculate()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